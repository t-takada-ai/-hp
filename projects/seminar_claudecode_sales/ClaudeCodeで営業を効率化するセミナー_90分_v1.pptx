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4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5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1日あたりの時間(時間)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訪問・商談</c:v>
                  </c:pt>
                  <c:pt idx="1">
                    <c:v>移動</c:v>
                  </c:pt>
                  <c:pt idx="2">
                    <c:v>資料・見積の作成</c:v>
                  </c:pt>
                  <c:pt idx="3">
                    <c:v>報告・システム入力</c:v>
                  </c:pt>
                  <c:pt idx="4">
                    <c:v>情報を探す</c:v>
                  </c:pt>
                  <c:pt idx="5">
                    <c:v>社内調整・その他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1.2</c:v>
                </c:pt>
                <c:pt idx="2">
                  <c:v>1.5</c:v>
                </c:pt>
                <c:pt idx="3">
                  <c:v>1</c:v>
                </c:pt>
                <c:pt idx="4">
                  <c:v>0.8</c:v>
                </c:pt>
                <c:pt idx="5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6E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営業職の採用が難しいと答えた中小企業の割合(%)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Noto Sans JP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2022</c:v>
                  </c:pt>
                  <c:pt idx="4">
                    <c:v>2024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52</c:v>
                </c:pt>
                <c:pt idx="2">
                  <c:v>39</c:v>
                </c:pt>
                <c:pt idx="3">
                  <c:v>50</c:v>
                </c:pt>
                <c:pt idx="4">
                  <c:v>57</c:v>
                </c:pt>
                <c:pt idx="5">
                  <c:v>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D6E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月額コスト(円)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Claude 個人プラン(1名)</c:v>
                  </c:pt>
                  <c:pt idx="1">
                    <c:v>携帯電話の通信費(1名)</c:v>
                  </c:pt>
                  <c:pt idx="2">
                    <c:v>営業車のリース(1台)</c:v>
                  </c:pt>
                  <c:pt idx="3">
                    <c:v>営業社員1名(月額人件費)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3000</c:v>
                </c:pt>
                <c:pt idx="1">
                  <c:v>6000</c:v>
                </c:pt>
                <c:pt idx="2">
                  <c:v>45000</c:v>
                </c:pt>
                <c:pt idx="3">
                  <c:v>550000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6E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月間削減時間(時間)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リスト作成</c:v>
                  </c:pt>
                  <c:pt idx="1">
                    <c:v>アプローチ</c:v>
                  </c:pt>
                  <c:pt idx="2">
                    <c:v>商談まわり</c:v>
                  </c:pt>
                  <c:pt idx="3">
                    <c:v>提案・見積</c:v>
                  </c:pt>
                  <c:pt idx="4">
                    <c:v>報告・集計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40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D6E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取り組んだA社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Noto Sans JP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開始時</c:v>
                  </c:pt>
                  <c:pt idx="1">
                    <c:v>3か月</c:v>
                  </c:pt>
                  <c:pt idx="2">
                    <c:v>6か月</c:v>
                  </c:pt>
                  <c:pt idx="3">
                    <c:v>9か月</c:v>
                  </c:pt>
                  <c:pt idx="4">
                    <c:v>12か月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106</c:v>
                </c:pt>
                <c:pt idx="2">
                  <c:v>118</c:v>
                </c:pt>
                <c:pt idx="3">
                  <c:v>129</c:v>
                </c:pt>
                <c:pt idx="4">
                  <c:v>138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様子を見たB社</c:v>
                </c:pt>
              </c:strCache>
            </c:strRef>
          </c:tx>
          <c:spPr>
            <a:solidFill>
              <a:srgbClr val="D98A34"/>
            </a:solidFill>
            <a:ln w="38100" cap="flat">
              <a:solidFill>
                <a:srgbClr val="D98A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Noto Sans JP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8A34"/>
              </a:solidFill>
              <a:ln w="9525" cap="flat">
                <a:solidFill>
                  <a:srgbClr val="D98A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開始時</c:v>
                  </c:pt>
                  <c:pt idx="1">
                    <c:v>3か月</c:v>
                  </c:pt>
                  <c:pt idx="2">
                    <c:v>6か月</c:v>
                  </c:pt>
                  <c:pt idx="3">
                    <c:v>9か月</c:v>
                  </c:pt>
                  <c:pt idx="4">
                    <c:v>12か月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99</c:v>
                </c:pt>
                <c:pt idx="2">
                  <c:v>97</c:v>
                </c:pt>
                <c:pt idx="3">
                  <c:v>95</c:v>
                </c:pt>
                <c:pt idx="4">
                  <c:v>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80"/>
        </c:scaling>
        <c:delete val="0"/>
        <c:axPos val="l"/>
        <c:majorGridlines>
          <c:spPr>
            <a:ln w="12700" cap="flat">
              <a:solidFill>
                <a:srgbClr val="D6E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90"/>
                </a:solidFill>
                <a:latin typeface="Noto Sans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67090"/>
              </a:solidFill>
              <a:latin typeface="Noto Sans JP"/>
              <a:cs typeface="Noto Sans JP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開始の挨拶は30秒。ツールの説明から入らず、まず営業の時間の話から始める。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いきなりツール名を出さない。営業の時間という自社の話から入る。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ゴールを先に示す。特に③が本日の肝であることを予告しておく。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30秒で切り上げる。技術者向けではないことをここで明言しておく。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第1部は危機感のパート。ツールの話はまだ一切しない。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会場に「うちの営業の訪問件数、月何件ですか」と軽く投げかけてもよい。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答えさせない。自社の営業の顔を思い浮かべてもらう時間にする。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自社の数字に置き換えてもらうため、ここは少しゆっくり話す。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「引き継ぎ書はありますか」と一言添えると、会場の顔が変わる。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第1部の危機感のピーク。具体的な人の顔が浮かぶ問い方をする。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採用の話は共感が取りやすい。ただし長引かせない。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すでに試して失望した経営者が会場にいる前提で話す。ここで共感を取る。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会場の多くが体験している往復。実際に手で動かす仕草を入れると伝わる。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「運ぶ仕事」という言い方が、経営者にはいちばん伝わる。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ここで一拍置く。第2部でその正体を明かす。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4点を30秒で復唱。長く語らずに第2部へ。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第2部は理解のパート。専門用語を使わないことを冒頭で宣言する。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チャットAIとの違いを、この問いで先に印象づける。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「読む・作る・つなぐ」の3語で覚えてもらう。以降この3語で説明する。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左右を指差しながら比較する。ここが第2部でいちばん重要な1枚。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名前で敬遠されないよう、ここは丁寧に。技術者専用ではないと明言する。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「黒い画面」への抵抗をここで完全に外す。いちばん質問が出る箇所。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実際の画面を見せられるなら、ここで実演すると効果が高い。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何でもつながると誤解されないよう、注記は口頭でも触れる。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「高いから無理」という言い訳をここで完全に外す。価格は必ず最新を確認。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第3部で「では営業のどの仕事か」に落とすことを予告する。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ここからが本題。自社の営業を思い浮かべながら聞いてもらうよう促す。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最後のバナーが第3部の結論の伏線。ここでは軽く触れる程度に。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リスト作成は成果が見えやすいので、最初の1業務の候補として有力。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「人がやるのは確認と判断だけ」という形になることを強調する。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「送れていない」ことによる機会損失を意識させる。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「人がやるのは選ぶこと」。判断は人に残ることを毎回添える。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実物を見せるのがいちばん早い。可能なら当日その場で実演してもよい。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転記ミスの話は共感が強い。実例があれば1つ挟むとよい。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「提案件数が増える」ことが受注に直結する点を強調する。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「日報をやめよう」という結論に飛ばないよう注意して話す。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「週の途中で手を打てる」が、経営者にとって最大の価値。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「毎週勝手に出てくる」ことのインパクトを伝える。ここは反応が大きい。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失注分析は経営者の関心が高い。ここで身を乗り出す会場も多い。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直前のプロセスマップに戻す。ここで1つ選んでもらうことが第6部の伏線になる。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この4語は、配布資料の見出しと揃えておくとよい。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「訪問◯件分」に換算すると、経営者にはいちばん伝わる。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営業の不安を煽らないため、社内展開時もこの説明から入るよう助言する。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第4部で「では、やった会社はどうなったか」に接続する。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事例パート。数字より「何を決めたか」に焦点を当てて話す。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「何もしない」の中身が現状維持ではなく後退である、という点が最大のメッセージ。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「削減」より「訪問件数と受注が増えた」という成果を強調する。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経営者自身が受け取る形になるのがポイント。社長が使う数少ない例。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失敗事例を必ず入れる。成功事例だけだと「うまくいった会社の話」で終わる。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ここで経営者を当事者にする。次のQで自問させる。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答えは前のスライドで既に出ている。沈黙の時間を長めに取る。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第5部への橋渡し。「では何を決めるのか」を予告して切り替える。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ここからは実践編。持ち帰って使える粒度で話す。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所要期間を示すことで「半年後には形になる」という見通しを持たせる。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配布資料に記録シートを付けておくと、実行率が大きく変わる。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マトリクスの左上だけを指して「ここから」と言い切る。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「訪問目標を下げる」がこのスライドの核心。ここを飛ばすと必ず失敗する。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最後の1行が、継続するかどうかの分岐点であることを強調する。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このスライドが第5部の核。ここは時間をかけてよい。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第4部の失敗事例と対応させながら話すと、腹落ちが早い。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怖がらせて終わらない。次のスライドで対処法を必ずセットで見せる。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完璧な規程を作ろうとして止まる会社が多い。3行で十分だと言い切る。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禁止は選択肢にならないことを、この問いで理解してもらう。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主催の商工会議所の窓口名を入れておくと、その場で相談につながりやすい。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残り時間を確認。押していれば要点3つとアクションだけに絞る。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3つを言い切って、次の問いに入る。補足説明は加えない。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冒頭の問いと対になる。ここが感情のピーク。間を長く取る。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配布資料の記録シートと連動させる。ここで具体的な次アクションを渡し切る。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実際に10秒黙る。この沈黙が、行動につながるかどうかを分ける。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質疑応答へ。回答は短く、個別具体は窓口へ誘導する。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4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351215" y="13716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中小企業の経営者向けセミナー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960120" y="224028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売る時間を、</a:t>
            </a:r>
            <a:endParaRPr lang="en-US" sz="4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取り戻す。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9601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で営業の事務作業を自動化する ─ 経営者が決める、はじめの一歩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60120" y="5257800"/>
            <a:ext cx="2926080" cy="0"/>
          </a:xfrm>
          <a:prstGeom prst="line">
            <a:avLst/>
          </a:prstGeom>
          <a:noFill/>
          <a:ln w="12700">
            <a:solidFill>
              <a:srgbClr val="3A45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 90分(質疑10分を含む)　|　登壇者名／所属・肩書き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御社の営業は、1日のうち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何時間「売って」いますか?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489204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訪問と商談に使えている時間だけを数えてください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今日、持ち帰っていただく3つ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この90分は「AIの勉強」ではなく、「営業の時間をどこから取り戻すか」の時間です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399434" cy="3291840"/>
          </a:xfrm>
          <a:prstGeom prst="roundRect">
            <a:avLst>
              <a:gd name="adj" fmla="val 277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55117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696" y="333756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営業の時間が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どこへ消えているか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6696" y="4069080"/>
            <a:ext cx="277764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売る時間より、資料作成と報告に使われている時間のほうが長い。その内訳を数字で共有します。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6130" y="2240280"/>
            <a:ext cx="3399434" cy="3291840"/>
          </a:xfrm>
          <a:prstGeom prst="roundRect">
            <a:avLst>
              <a:gd name="adj" fmla="val 277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7026" y="255117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7026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7026" y="333756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Codeで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何が自動化できるか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7026" y="4069080"/>
            <a:ext cx="277764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リスト作成、提案書、日報集計。営業のどの作業が、どこまで手を離れるのかを具体的に見ます。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6461" y="2240280"/>
            <a:ext cx="3399434" cy="3291840"/>
          </a:xfrm>
          <a:prstGeom prst="roundRect">
            <a:avLst>
              <a:gd name="adj" fmla="val 277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7357" y="255117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7357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7357" y="333756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経営者は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何を決めるのか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7357" y="4069080"/>
            <a:ext cx="277764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現場に配って終わりにした会社は、ほぼ失敗します。社長が決めるべき3つを持ち帰っていただきます。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本日の講師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148840"/>
            <a:ext cx="1920240" cy="1920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651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登壇者名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所属・肩書き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92040" y="1783080"/>
            <a:ext cx="6613855" cy="1234440"/>
          </a:xfrm>
          <a:prstGeom prst="roundRect">
            <a:avLst>
              <a:gd name="adj" fmla="val 5926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66360" y="211683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100" y="2275576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1929384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中小企業の営業現場を支援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89320" y="2258568"/>
            <a:ext cx="52422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卸売・商社・建設資材・製造業を中心に、営業まわりの業務の見直しを支援。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92040" y="3200400"/>
            <a:ext cx="6613855" cy="1234440"/>
          </a:xfrm>
          <a:prstGeom prst="roundRect">
            <a:avLst>
              <a:gd name="adj" fmla="val 5926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66360" y="353415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100" y="3692896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3346704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専門知識は前提にしません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989320" y="3675888"/>
            <a:ext cx="52422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プログラミングの話はしません。マウスとキーボードで動かせる範囲だけを扱います。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92040" y="4617720"/>
            <a:ext cx="6613855" cy="1234440"/>
          </a:xfrm>
          <a:prstGeom prst="roundRect">
            <a:avLst>
              <a:gd name="adj" fmla="val 5926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166360" y="49514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100" y="5110216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89320" y="4764024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対象は「営業を増やせない」会社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989320" y="5093208"/>
            <a:ext cx="52422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大企業のSFA導入事例ではなく、営業3〜20名規模の現実解を扱います。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25535" y="17373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 1 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2542032"/>
            <a:ext cx="7528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営業の時間は、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どこへ消えているのか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279392"/>
            <a:ext cx="7528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まず、自社の営業が何に時間を使っているのかを共有します。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営業1人の1日は、こう使われている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8時間のうち、実際に「売っている」のは3時間ほどです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208215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659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営業1人の1日(8時間)の内訳 / 時間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22576"/>
          <a:ext cx="6751015" cy="3209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59775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0671" y="209397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224759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0671" y="278892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売る時間は、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1日の4割以下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570671" y="3749040"/>
            <a:ext cx="2624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残りの5時間は、やらなければ回らないが、それ自体では1円も生まない作業です。ここを削らない限り、訪問件数は増えません。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※業務実態のイメージ図です。自社の営業日報の実績値に置き換えてご覧ください。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その残りの5時間は、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何に使われていますか?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事務作業に消えている、本当の金額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営業の時間単価で計算すると、無視できない額になります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399434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03704"/>
            <a:ext cx="2850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営業1人あたりの事務時間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569464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1,100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時間/年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1日5時間 × 年間220日。営業活動以外に使われている時間の合計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6130" y="1965960"/>
            <a:ext cx="3399434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0450" y="2203704"/>
            <a:ext cx="2850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人件費換算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0450" y="2569464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390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万円/年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70450" y="3337560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時間単価3,500円で換算。営業1名あたりの「売っていない時間」のコスト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6461" y="1965960"/>
            <a:ext cx="3399434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0781" y="2203704"/>
            <a:ext cx="2850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営業5名の会社なら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0781" y="2569464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1,950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万円/年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80781" y="3337560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この金額が、受注につながらない作業に毎年消えている計算です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" y="48234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4977079"/>
            <a:ext cx="241402" cy="2414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37360" y="4617720"/>
            <a:ext cx="9402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問題は営業の働きが悪いことではありません。売る以外の仕事が、営業に積み上がっていることです。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※試算例です。自社の営業人数・人件費に置き換えてご覧ください。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しかも、そのやり方は共有されない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できる営業のノウハウが、本人の中にしか残らない構造です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提案書は、各自のパソコンの中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うまくいった提案書がどこにあるか誰も知らない。毎回ゼロから作り直している。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刺さる言い回しは、本人の頭の中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トップ営業がなぜ受注できるのかを、若手が言語化して学べる形になっていない。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辞めた瞬間、すべて消える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顧客との経緯も、断られた理由も、引き継ぎ資料には残らない。ゼロからやり直しになる。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属人化は「人の問題」ではなく、記録と共有の仕組みがないという構造の問題です。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トップ営業が辞めたら、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そのノウハウはどこに残りますか?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そして、営業も採れなくなっている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人を増やして解決する道は、年々細くなっています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208215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659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営業職の採用が難しいと答えた中小企業の割合(%)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22576"/>
          <a:ext cx="6751015" cy="3209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59775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0671" y="209397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224759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0671" y="278892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増やす前提の計画は、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もう立たない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570671" y="3749040"/>
            <a:ext cx="2624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採用できても、育つまでに2〜3年かかります。今いる営業が売る時間を取り戻すほうが、確実で早い打ち手です。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※推移イメージ。登壇時は日本商工会議所LOBO調査・中小企業白書の最新値に差し替えてください。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「AIはもう試した」── それでも時間は戻らなかった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多くの会社が、ここで止まっています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34415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聞くだけで終わった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文章は作ってくれる。でも、その文章を貼り付けて、体裁を整えて、送るのは結局人。作業は減らなかった。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613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34415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毎回、同じ説明が必要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自社の商品も、顧客の事情も知らない。使うたびに背景から説明していたら、自分で書いたほうが早い。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461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34415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資料もデータも渡せない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顧客リストも過去の提案書も社内にある。AIはそれを見られないので、机上の一般論しか返ってこない。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2120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212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問題はAIの性能ではなく、AIが「作業の外」にいたことでした。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チャット型AIに残る、4つの手作業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聞いて答えをもらうまでの往復が、そのまま時間になっています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1122" y="2286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112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資料を開いて内容をコピーする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1660" y="3054096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59404" y="201168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726" y="2286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72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688004" y="3017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AIの画面に貼り付けて質問する</a:t>
            </a:r>
            <a:endParaRPr lang="en-US" sz="13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64" y="3054096"/>
            <a:ext cx="201168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33008" y="201168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8330" y="2286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0833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461608" y="3017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返ってきた答えをコピーする</a:t>
            </a:r>
            <a:endParaRPr lang="en-US" sz="13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867" y="3054096"/>
            <a:ext cx="201168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006611" y="201168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1933" y="22860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981933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235211" y="3017520"/>
            <a:ext cx="20420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資料に貼り直して体裁を整える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85800" y="4709160"/>
            <a:ext cx="10820095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51560" y="47091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AIが賢くなっても、この1・2・4は人の手作業のまま残ります。ここが削れないと、時間は戻りません。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※チャット型AIを業務で使うときの一般的な流れです。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残っているのは「つなぎ目」の作業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考える仕事ではなく、運ぶ仕事が残っています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AIが担当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考える・書く部分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文章を考える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要点にまとめる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表現を整える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案を複数出す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専門用語なしで、日本語のまま指示できる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人が担当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7840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運ぶ・つなぐ部分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5072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資料を探して開く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内容をコピーして貼り付ける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結果をファイルに書き戻す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体裁を整えて保存する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毎回、同じ手順を繰り返す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991295" y="214884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6596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必要だったもの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60120" y="2450592"/>
            <a:ext cx="8076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答えるAIではなく、</a:t>
            </a:r>
            <a:endParaRPr lang="en-US" sz="4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作業をやり切るAI。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315968"/>
            <a:ext cx="8076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資料を自分で開き、書き出し、保存し、次の作業まで進める。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人が「運ぶ」必要のないAIが出てきたことが、これまでとの決定的な違いです。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第1部のまとめ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196925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1907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営業が売っている時間は1日の4割以下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04825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残りは資料作成・報告・情報探し。やらなければ回らないが、売上には直結しない作業です。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76148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299923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15797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90779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そのやり方は本人の中にしか残らない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23697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提案書もノウハウも共有されず、辞めた瞬間にゼロに戻ります。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395020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18795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434669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9651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営業を増やして解決する道は細くなっている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42569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採用も育成も年々難しくなっています。今いる営業の時間を取り戻すほうが早い。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5800" y="513892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0120" y="53766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60" y="553541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28523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チャット型AIでは「運ぶ作業」が残った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83080" y="561441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必要なのは、資料を自分で開いて最後まで進めるAIです。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25535" y="17373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 2 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2542032"/>
            <a:ext cx="7528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とは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何なのか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279392"/>
            <a:ext cx="7528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技術の話はしません。「自社の営業の何が変わるのか」だけを扱います。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AIが、自分のパソコンの中で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手を動かすとしたら?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489204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聞くのではなく、やってもらう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の正体は、この3つ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難しく考える必要はありません。できることは、突き詰めるとこれだけです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399434" cy="3794760"/>
          </a:xfrm>
          <a:prstGeom prst="roundRect">
            <a:avLst>
              <a:gd name="adj" fmla="val 269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2608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読む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657600"/>
            <a:ext cx="277764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パソコンの中のファイルを自分で開いて読む。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例:過去の提案書50件、顧客リスト、商談メモ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6130" y="1828800"/>
            <a:ext cx="3399434" cy="3794760"/>
          </a:xfrm>
          <a:prstGeom prst="roundRect">
            <a:avLst>
              <a:gd name="adj" fmla="val 269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29843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2608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657600"/>
            <a:ext cx="277764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文書やデータを作り、ファイルとして保存する。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例:提案書、見積、メール文面、集計表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461" y="1828800"/>
            <a:ext cx="3399434" cy="3794760"/>
          </a:xfrm>
          <a:prstGeom prst="roundRect">
            <a:avLst>
              <a:gd name="adj" fmla="val 269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29843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2608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つなぐ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657600"/>
            <a:ext cx="277764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社内で使っているサービスと接続して情報をやり取りする。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例:表計算、共有フォルダ、チャット、カレンダー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チャット型AIとの、決定的な違い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同じAIでも、できる仕事の範囲がまったく違います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これまでのAI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画面に貼り付けたものだけを見る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答えを返すところまでが仕事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ファイルの保存は人がやる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毎回、背景から説明が必要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社内のデータは渡せない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7840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作業をやり切るAI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5072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フォルダの中を自分で探して読む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ファイルを作って保存するまで進める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決めた手順をそのまま実行する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自社のルールを一度覚えさせれば再説明は不要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社内サービスと接続できる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「Code」という名前だが、営業事務にこそ効く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もともとは技術者向けですが、効く仕事の構造は営業事務と同じです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決まった形式の書類を、大量に作る仕事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提案書も見積も報告書も、形が決まっていて中身だけが変わる。もっとも自動化しやすい形です。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過去の資料から探して、引っ張ってくる仕事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似た案件の提案書、以前の見積条件、前回の議事録。探す作業がそのまま消えます。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毎週・毎月、同じ手順で繰り返す仕事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日報の集計、週次の売上まとめ、月末の実績報告。一度手順を決めれば、以後は自動で回せます。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「文字と数字を、決まった手順で扱う仕事」── 営業事務はまさにこれです。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使える場所は、5つ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自分のパソコンでも、外出先のスマホでも動きます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1959193" cy="347472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02996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188708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816352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547872"/>
            <a:ext cx="133740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Windows / Mac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通常のソフトと同じ。画面を見ながら作業を確認できる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01025" y="1719072"/>
            <a:ext cx="1959193" cy="347472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1921" y="202996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61" y="2188708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11921" y="2816352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ブラウザ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211921" y="3547872"/>
            <a:ext cx="133740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claude.ai/code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インストール不要。長い作業を任せて後で結果を見る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16251" y="1719072"/>
            <a:ext cx="1959193" cy="347472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27147" y="202996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887" y="218870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27147" y="2816352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スマホ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427147" y="3547872"/>
            <a:ext cx="133740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iOS / Android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移動中に指示を出し、戻ったら結果を確認する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331476" y="1719072"/>
            <a:ext cx="1959193" cy="347472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42372" y="202996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112" y="2188708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2372" y="2816352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チャット連携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642372" y="3547872"/>
            <a:ext cx="133740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Slack など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チームのチャットから直接、作業を依頼できる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546702" y="1719072"/>
            <a:ext cx="1959193" cy="347472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57598" y="202996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338" y="2188708"/>
            <a:ext cx="249448" cy="249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57598" y="2816352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ターミナル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9857598" y="3547872"/>
            <a:ext cx="1337401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技術者向け(開発用)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経営者・営業が使う必要はありません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85800" y="5376672"/>
            <a:ext cx="10820095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51560" y="5376672"/>
            <a:ext cx="100885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営業と経営者が使うのは、左の3つだけです。黒い画面を触る必要はありません。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※提供形態は変更される場合があります。登壇前に公式情報をご確認ください。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営業が使うのは、この2つだけ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特別な知識は要りません。日本語で指示するだけです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931920"/>
          </a:xfrm>
          <a:prstGeom prst="roundRect">
            <a:avLst>
              <a:gd name="adj" fmla="val 2326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デスクトップアプリ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98648" y="2057400"/>
            <a:ext cx="258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自席のパソコンで、結果を見ながら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606040"/>
            <a:ext cx="4504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普通のソフトと同じようにインストールして起動します。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「このフォルダの提案書を読んで、A社向けの提案書を作って」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日本語でこう頼むだけです。作られたファイルはそのまま自分のパソコンに保存されます。作業の途中経過も画面で確認できるので、任せきりにはなりません。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ブラウザ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28736" y="2057400"/>
            <a:ext cx="258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外出先から、時間のかかる作業を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8496" y="2606040"/>
            <a:ext cx="4504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インストール不要。ブラウザを開いてログインするだけです。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「先週の営業日報30件を読んで、要注意の案件を3つ挙げて」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時間のかかる作業を出先から投げておき、戻ったときに結果を確認する使い方に向いています。スマートフォンからも同じことができます。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社内で使っているサービスと、つながる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AIを社内の情報につなぐ共通の仕組み(MCP)が用意されています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288036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0" y="3264408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2" y="342900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57800" y="4453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指示は日本語で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18288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075688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" y="222930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993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共有フォルダ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45920" y="23591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提案書・見積・契約書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306324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1832" y="3310128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" y="346374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表計算・顧客リスト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45920" y="359359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案件管理・売上データ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42976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41832" y="4544568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451" y="469818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462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メール・チャット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645920" y="48280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顧客とのやり取り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452360" y="18288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08392" y="2075688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011" y="2229307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12480" y="1993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カレンダー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412480" y="23591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訪問予定・商談履歴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452360" y="306324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708392" y="3310128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2011" y="3463747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12480" y="3227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販売管理システム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12480" y="359359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受注・在庫・出荷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452360" y="42976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708392" y="4544568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2011" y="4698187"/>
            <a:ext cx="241402" cy="24140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412480" y="4462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社内チャット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8412480" y="48280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報告・情報共有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785616"/>
            <a:ext cx="256032" cy="256032"/>
          </a:xfrm>
          <a:prstGeom prst="rect">
            <a:avLst/>
          </a:prstGeom>
        </p:spPr>
      </p:pic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3785616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※接続できる範囲は利用中のサービス・社内の許可設定によります。すべてが自動でつながるわけではありません。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費用感の現実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投資判断の話ではなく、月々の消耗品に近い金額です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208215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659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月額コストの比較(円)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22576"/>
          <a:ext cx="6751015" cy="3209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59775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0671" y="209397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224759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0671" y="278892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決裁が要る額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ですらない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570671" y="3749040"/>
            <a:ext cx="2624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個人プランは月額20ドル(約3,000円)から。チームで使う場合も1席あたりの月額課金です。障害はコストではありません。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※2026年8月時点の一般的な水準からの試算例。プラン内容・価格は変更されるため、登壇前に公式情報をご確認ください。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第2部のまとめ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196925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1907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Codeは「読む・作る・つなぐ」を代行する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04825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答えを返すだけでなく、ファイルを作って保存するところまで進めます。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76148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299923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15797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90779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決まった形式の書類を大量に作る仕事に効く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23697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提案書・見積・報告書。営業事務はまさにこの形です。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395020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18795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434669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9651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使うのはデスクトップアプリとブラウザ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42569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黒い画面は不要。指示は日本語です。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5800" y="513892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0120" y="53766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60" y="553541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28523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止めているのはコストではなく、判断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83080" y="561441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月数千円から。決裁が要らない金額で最初の検証はできます。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25535" y="17373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 3 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2542032"/>
            <a:ext cx="7528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営業の、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どの仕事が変わるのか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279392"/>
            <a:ext cx="7528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リスト作成から提案・報告まで、営業プロセスごとに具体的に見ていきます。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営業プロセスマップ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この5工程を順番に見ていきます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959193" cy="329184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5271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880360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①リスト作成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611880"/>
            <a:ext cx="133740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見込み客の抽出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企業情報の調査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担当者の特定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優先順位づけ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01025" y="1783080"/>
            <a:ext cx="1959193" cy="329184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1921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61" y="225271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11921" y="2880360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②アプローチ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211921" y="3611880"/>
            <a:ext cx="133740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メール文面作成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電話トークの準備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案内資料の作成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返信対応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16251" y="1783080"/>
            <a:ext cx="1959193" cy="329184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27147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887" y="225271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27147" y="2880360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③商談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427147" y="3611880"/>
            <a:ext cx="133740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商談メモ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お礼メール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議事録の作成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次アクション整理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331476" y="1783080"/>
            <a:ext cx="1959193" cy="329184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42372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112" y="2252716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2372" y="2880360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④提案・見積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642372" y="3611880"/>
            <a:ext cx="133740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提案書の作成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見積書の作成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過去案件の参照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条件の確認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546702" y="1783080"/>
            <a:ext cx="1959193" cy="3291840"/>
          </a:xfrm>
          <a:prstGeom prst="roundRect">
            <a:avLst>
              <a:gd name="adj" fmla="val 466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57598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338" y="2252716"/>
            <a:ext cx="249448" cy="249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57598" y="2880360"/>
            <a:ext cx="133740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⑤報告・分析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9857598" y="3611880"/>
            <a:ext cx="133740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営業日報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週次・月次の集計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案件の進捗管理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失注理由の分析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51560" y="525780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どの工程も、中身は「集める・書く・まとめる・つなぐ」の組み合わせでできています。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①リスト作成:探すだけで半日が終わる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売る前の準備に、想像以上の時間が使われています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1社ずつ調べて、1行ずつ入力する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業種・規模・所在地・担当者名。100社分を手で調べれば、それだけで2日仕事になります。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調べた内容が、共有されない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同じ会社を別の営業がまた調べている。個人のパソコンに散らばったまま蓄積されません。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優先順位がつけられない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リストはあるが、どこから当たるべきかの判断材料がない。結局、上から順に電話している。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調べる・整える・並べ替える ── すべてClaude Codeが得意とする作業です。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①リスト作成 ─ Before /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同じ人が、同じ準備を、短い時間で終える形に変わります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いまのやり方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1社ずつ検索して情報を書き写す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業種や規模の条件で手作業で絞り込む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表記ゆれや重複をあとから直す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優先順位は担当者の感覚で決める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100社分で丸2日かかる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7840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Codeを使った形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5072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条件を伝えれば、候補一覧を作って表に整理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既存顧客・過去の失注先を自動で突き合わせ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表記ゆれと重複をまとめて整える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受注実績に近い特徴の会社から順に並べる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人がやるのは、最終確認と当たる順の判断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②アプローチ:文面を考えるだけで手が止まる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1通10分でも、積み上がると大きな時間になります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1通ずつ、文面を考え直している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相手の業種や課題に合わせて書き直す。100社に送るなら、それだけで2日分の作業です。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後回しにされ、送られない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文面を考える手間があるため着手が遅れ、結局送らないまま案件が流れていく。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うまくいった文面が残らない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反応が良かったメールも、個人の送信済みフォルダに埋もれて共有されない。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文面作成は、Claude Codeがもっとも早く効果を出す業務のひとつです。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②アプローチ ─ Before /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文面を考える時間が、送る件数に変わります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いまのやり方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1通ずつ、相手に合わせて書き直す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過去のうまくいった文面を探せない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返信対応の文面も毎回考える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案内資料は都度、体裁から作る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手が回らず、送信自体が後回しになる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7840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Codeを使った形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5072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業種と課題を伝えれば、案を複数出させる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反応の良かった文面を読み込ませて型にする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返信のパターン別に下書きを用意させる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案内資料は雛形から自動で差し込み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人がやるのは、選んで直して送ることだけ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実例:商談メモが、3点セットになる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手書きのメモを渡すだけで、この形まで自動で整理されます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931920"/>
          </a:xfrm>
          <a:prstGeom prst="roundRect">
            <a:avLst>
              <a:gd name="adj" fmla="val 2326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商談メモ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98648" y="2057400"/>
            <a:ext cx="258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訪問後に走り書きした10行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606040"/>
            <a:ext cx="4504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8/5 A建設 田中部長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・現場3件で足場材が不足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・今は他社から購入、納期に不満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・価格は既存より高くても納期優先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・9月着工分から切替を検討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・見積は8月中旬までにほしい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・決裁は社長、月末の会議で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・競合はB社(単価は安いが在庫薄)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自動で出てくるもの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28736" y="2057400"/>
            <a:ext cx="258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作成時間:約3分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8496" y="2606040"/>
            <a:ext cx="4504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お礼メールの下書き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納期の課題に触れ、8月中旬の見積提出を明記した文面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商談議事録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課題・要望・決裁ルート・競合状況を項目別に整理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次アクション一覧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・見積作成(担当:自分 / 期限:8月15日)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・在庫と納期の社内確認(担当:業務課 / 今週中)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・月末会議前のフォロー連絡(8月25日)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③提案・見積:1件2時間の常態化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営業がもっとも時間を取られている工程です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似た案件の提案書を探すところから始まる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どこに保存したか分からず、探すだけで30分。見つからなければゼロから作り直す。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流用して、体裁を整え直す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前の顧客名が残っていないか確認しながら、1ページずつ直していく作業。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条件の転記ミスが後で問題になる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見積の単価や納期を写し間違え、受注後にトラブルになるケースが後を絶たない。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探す・流用する・転記する。この3つが、そのまま削減対象になります。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③提案・見積 ─ Before /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提案の質ではなく、提案にかかる時間が変わります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いまのやり方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似た案件の提案書を探すところから始める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前回ファイルを開いて1ページずつ直す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見積条件を手で転記する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作成に1件あたり約2時間かかる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忙しい週は、提案そのものが出せない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7840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Codeを使った形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5072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過去の提案書を読み込ませ、近い案件を提示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顧客名・条件を差し替えた案を自動で作成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見積条件は元データから転記させ、ミスを防ぐ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たたき台まで15分。人は中身の判断に集中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提案件数そのものを増やせる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④報告・集計:書く側も、読む側も報われない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毎日書かせているが、経営判断には使えていません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営業は、毎日30分かけて日報を書く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5名なら月に50時間。それだけの時間をかけて書かせています。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溜まるだけで、読まれない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件数が多すぎて全部は読めない。結局、気になった案件だけを口頭で聞いている。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集計は月末に手作業でまとめる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表計算に打ち直して合計する。出てきた頃には、もう手を打てない時期になっている。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書かせるのをやめるのではなく、読んでまとめる側を自動化するのが正解です。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④報告・集計 ─ Before /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溜めるだけの日報が、手を打つための材料に変わります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いまのやり方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日報は書かせているが読み切れない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危ない案件は、報告されて初めて気づく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集計は月末に手作業で打ち直す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数字が出る頃には手遅れになっている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失注理由は記録されず、次に活かせない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073908"/>
          </a:xfrm>
          <a:prstGeom prst="roundRect">
            <a:avLst>
              <a:gd name="adj" fmla="val 297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7840" y="2057400"/>
            <a:ext cx="289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Codeを使った形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5072" y="2624328"/>
            <a:ext cx="4431640" cy="197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全件を読み込ませ、要点だけを一覧化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停滞している案件・競合が出た案件を抽出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集計は自動。毎週決まった時間に出力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週の途中で手を打てる状態になる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失注理由を分類し、傾向として蓄積できる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実例:月曜の朝、要注意案件が机の上にある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毎週決まった時間に自動で動かす設定もできます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090008" cy="3931920"/>
          </a:xfrm>
          <a:prstGeom prst="roundRect">
            <a:avLst>
              <a:gd name="adj" fmla="val 2326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57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98648" y="2057400"/>
            <a:ext cx="258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先週1週間の営業日報 30件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606040"/>
            <a:ext cx="4504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営業5名 × 週6件 = 30件の日報。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それぞれ数百文字の自由記述で、案件名・訪問先・所感が混在した状態のまま。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これまでは、全部読む時間がないため、気になった数件だけを口頭で確認していました。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15888" y="1783080"/>
            <a:ext cx="5090008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8496" y="20574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8496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月曜8時に自動出力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28736" y="2057400"/>
            <a:ext cx="258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作成時間:自動(所要3分)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8496" y="2606040"/>
            <a:ext cx="45047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要注意案件 3件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・A建設:2週間動きなし。競合B社が接触
・C工業:見積提出後7日、反応なし
・D商店:担当者交代、決裁ルート不明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今週の数字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訪問28件(前週比 +3) / 見積提出9件 / 受注3件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気づき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納期を理由にした失注が今月3件。在庫方針の見直しを検討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⑤フォロー・失注分析:いちばん放置されている工程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受注しなかった案件から学べていない会社がほとんどです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フォローのタイミングを逃す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見積を出したまま2週間。思い出したときには、すでに他社で決まっている。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失注理由が「価格」で片づけられる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本当は納期や対応の遅さが理由でも、記録が残らないため改善につながらない。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過去の顧客に、二度と当たらない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1年前に断られた会社の事情が変わっていても、掘り起こす仕組みがない。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記録を読んで、拾って、知らせる ── これも「読む・まとめる・つなぐ」の作業です。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この5工程のうち、御社の営業が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いちばん時間を使っているのはどれですか?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489204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リスト作成 / アプローチ / 商談 / 提案・見積 / 報告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効く仕事の型は、4つしかない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工程が違っても、軽くなる作業の構造は同じです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471852" cy="3429000"/>
          </a:xfrm>
          <a:prstGeom prst="roundRect">
            <a:avLst>
              <a:gd name="adj" fmla="val 369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26080"/>
            <a:ext cx="18500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集める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657600"/>
            <a:ext cx="18500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顧客情報・過去案件・条件を探す時間。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読み込ませておけば、探す作業自体がなくなります。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68548" y="1828800"/>
            <a:ext cx="2471852" cy="3429000"/>
          </a:xfrm>
          <a:prstGeom prst="roundRect">
            <a:avLst>
              <a:gd name="adj" fmla="val 369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79444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184" y="229843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9444" y="2926080"/>
            <a:ext cx="18500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書く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79444" y="3657600"/>
            <a:ext cx="18500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メール・提案書・報告書を書く時間。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下書きを任せ、人は確認と判断に集中します。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51296" y="1828800"/>
            <a:ext cx="2471852" cy="3429000"/>
          </a:xfrm>
          <a:prstGeom prst="roundRect">
            <a:avLst>
              <a:gd name="adj" fmla="val 369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2192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931" y="229843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2192" y="2926080"/>
            <a:ext cx="18500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まとめる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62192" y="3657600"/>
            <a:ext cx="18500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日報や数字を集計する時間。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読んで要点を出す作業をそのまま任せられます。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34043" y="1828800"/>
            <a:ext cx="2471852" cy="3429000"/>
          </a:xfrm>
          <a:prstGeom prst="roundRect">
            <a:avLst>
              <a:gd name="adj" fmla="val 369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44939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679" y="2298436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4939" y="2926080"/>
            <a:ext cx="18500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つなぐ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344939" y="3657600"/>
            <a:ext cx="18500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資料と資料の間を運ぶ時間。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ファイルの読み書きまで進むので、往復が消えます。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85800" y="5440680"/>
            <a:ext cx="10820095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051560" y="544068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自社の営業の1日を、この4つの言葉で棚卸ししてください。それが第5部でお話しする最初の一歩です。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営業5名で積み上げると、何人分になるか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工程ごとの削減時間を合算した試算です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208215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659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営業5名合計での月間削減時間(時間)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22576"/>
          <a:ext cx="6751015" cy="3209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59775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0671" y="209397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224759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0671" y="278892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月120時間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= 訪問80件分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570671" y="3749040"/>
            <a:ext cx="2624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年間1,440時間。営業1人を採用せずに、訪問と提案に使える時間が生まれる計算です。この時間をどこに向けるかが経営判断です。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※営業5名規模での試算例です。実際の効果は業務量と定着度により変動します。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43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991295" y="214884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6596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空いた時間の使い道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60120" y="2450592"/>
            <a:ext cx="8076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戻ってくるのは、</a:t>
            </a:r>
            <a:endParaRPr lang="en-US" sz="4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訪問と提案の時間。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315968"/>
            <a:ext cx="8076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人を減らす話ではありません。売る以外に使われていた時間を、売る時間に戻すだけです。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訪問件数が増え、提案件数が増えれば、受注は後からついてきます。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0120" y="54864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訪問件数を増やす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54864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提案の質を上げる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54864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2A34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5486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既存顧客を掘り起こす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第3部のまとめ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1051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196925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1907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5工程すべてに、削減できる仕事がある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04825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リスト作成・アプローチ・商談・提案・報告。どこか1つだけの話ではありません。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76148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299923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15797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90779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軽くなる仕事の型は「集める・書く・まとめる・つなぐ」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23697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この4語で自社の営業を棚卸しすれば、対象はすぐに見つかります。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395020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18795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434669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9651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営業5名で月120時間、訪問80件分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42569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採用せずに生まれる時間です。しかも売る側の時間として戻ってきます。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5800" y="5138928"/>
            <a:ext cx="10820095" cy="1042416"/>
          </a:xfrm>
          <a:prstGeom prst="roundRect">
            <a:avLst>
              <a:gd name="adj" fmla="val 7018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0120" y="53766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60" y="553541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285232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戻った時間の使い道は、経営が決める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83080" y="5614416"/>
            <a:ext cx="94484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削減して終わりでは意味がありません。何に振り向けるかが成果を分けます。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25535" y="17373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 4 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2542032"/>
            <a:ext cx="7528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やった会社と、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やらなかった会社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279392"/>
            <a:ext cx="7528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同じ業種、同じ規模。1年で何が変わったのかを見ていきます。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1年で、訪問件数にここまで差がつく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同業・同規模2社の、営業1人あたり月間訪問件数の推移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208215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6659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開始時 = 100 とした営業1人あたり訪問件数の指数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322576"/>
          <a:ext cx="6751015" cy="3209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59775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0671" y="2093976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90" y="224759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0671" y="2788920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差は45ポイント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1年で開いた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570671" y="3749040"/>
            <a:ext cx="2624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B社が下がっているのは、何もしなかったからではありません。事務作業が自然に増えたためです。現状維持は、後退を意味します。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※開始時を100とした指数のイメージ図です。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事例A:建設資材卸・営業5名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提案書作成の時間を、そのまま訪問件数に振り替えた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0848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4357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79806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建設資材卸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従業員22名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96696" y="365760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営業5名。提案・見積作成が1件2時間かかり、月末は誰も外に出られない状態だった。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20" y="225271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9293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49240" y="22585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提案・見積作成で営業5名合計 月80時間。提案が出せず失注する案件が続いていた。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51960" y="31546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34655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020" y="362431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3009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やったこと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49240" y="36301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過去3年分の提案書を読み込ませ、たたき台を自動作成。1名・1業務・3か月で検証した。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251960" y="45262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26280" y="48371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020" y="4995916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46725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349240" y="50017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月40時間を削減。訪問件数が2割増え、提案件数の増加が受注2件につながった。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※想定事例(実際の導入相談をもとにした構成例)。自社の実績が入る場合は差し替えてください。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事例B:機械商社・営業12名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日報を読む側を自動化し、失注する前に手を打てるようにした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0848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4357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79806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産業機械商社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従業員45名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96696" y="365760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営業12名の日報が毎日届くが、社長も部長も全件は読めず、報告を待つ形になっていた。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20" y="225271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9293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49240" y="22585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週60件の日報が読まれないまま蓄積。停滞案件に気づくのが、いつも失注の後だった。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51960" y="31546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34655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020" y="362431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3009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やったこと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49240" y="36301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毎週月曜朝に日報を自動で読ませ、停滞案件と競合接触を一覧で出力する形にした。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251960" y="45262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26280" y="48371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020" y="4995916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46725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349240" y="50017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週の途中でフォロー指示が出せるようになり、見積提出後の失注率が改善した。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※想定事例(実際の導入相談をもとにした構成例)。自社の実績が入る場合は差し替えてください。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事例C:導入したのに、使われなかった会社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同じツールを入れても、結果が正反対になることがあります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F7ECDD"/>
          </a:solidFill>
          <a:ln w="12700">
            <a:solidFill>
              <a:srgbClr val="EBD9C2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08483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4357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79806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住宅設備販売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従業員30名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96696" y="3657600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「営業のDXを進める」と全営業にアカウントを配布。3か月後、使っていたのは1名だけだった。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939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20" y="225271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9293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何が起きたか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49240" y="22585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「各自で使ってみてほしい」と全員に配布。誰も自分の営業活動との結びつけ方が分からなかった。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51960" y="31546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34655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020" y="362431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3009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現場の声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49240" y="36301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「数字を追うので手一杯。新しいことを覚える時間がない」── 訪問目標は一切変わっていなかった。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251960" y="4526280"/>
            <a:ext cx="725393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26280" y="483717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020" y="4995916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4672584"/>
            <a:ext cx="5882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結末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349240" y="50017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半年で契約を解除。社内には「うちの営業には合わなかった」という記憶だけが残った。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※想定事例。実際にもっとも多い失敗のパターンです。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失敗する会社の、3つの共通点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いずれもツールの問題ではなく、進め方の問題です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34415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全員に配って、あとは任せた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「各自で使って」で終わらせた。営業目標が変わらないまま、新しい作業だけが増える形になっていた。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613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34415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目的が曖昧だった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「営業をDXする」が目的化した。どの工程を、どれだけ軽くするのかが決まっていなかった。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461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34415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効果を測らなかった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訪問件数も作成時間も記録していないため、成果が見えず、続ける理由も説明できなかった。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2120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212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3つとも、営業現場では決められないことです。つまり、失敗の原因は経営側にあります。</a:t>
            </a:r>
            <a:endParaRPr lang="en-US" sz="14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導入したのに使われない。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その原因は、現場ですか。経営ですか。</a:t>
            </a:r>
            <a:endParaRPr lang="en-US" sz="3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991295" y="214884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6596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差を生んでいるもの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60120" y="2450592"/>
            <a:ext cx="8076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違いは、</a:t>
            </a:r>
            <a:endParaRPr lang="en-US" sz="4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誰か1人に時間を渡したか。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315968"/>
            <a:ext cx="8076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A社もB社も、使ったものは同じでした。分かれ目は、どの工程を、誰が、いつまでに試すのか──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その範囲を経営が決め、その人の通常業務を減らしたかどうか。それだけです。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25535" y="17373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 5 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2542032"/>
            <a:ext cx="7528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では、社長は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何を決めるのか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279392"/>
            <a:ext cx="7528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進め方の4ステップと、決めておくべきルールを整理します。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進め方は、この4ステップ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順番を飛ばさないことが、いちばんの近道です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499284" cy="3108960"/>
          </a:xfrm>
          <a:prstGeom prst="roundRect">
            <a:avLst>
              <a:gd name="adj" fmla="val 365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18488" y="2148840"/>
            <a:ext cx="1292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時間を測る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43784"/>
            <a:ext cx="19506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営業が何に時間を使っているかを記録する。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所要:1週間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経営の関与:指示を出す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1660" y="3328416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59404" y="1874520"/>
            <a:ext cx="2499284" cy="3108960"/>
          </a:xfrm>
          <a:prstGeom prst="roundRect">
            <a:avLst>
              <a:gd name="adj" fmla="val 365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33724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3372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392092" y="2148840"/>
            <a:ext cx="1292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1工程を選ぶ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33724" y="2843784"/>
            <a:ext cx="19506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効果と難易度で、最初の1つを決める。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所要:数日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経営の関与:自ら決める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64" y="3328416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33008" y="1874520"/>
            <a:ext cx="2499284" cy="3108960"/>
          </a:xfrm>
          <a:prstGeom prst="roundRect">
            <a:avLst>
              <a:gd name="adj" fmla="val 365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07328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0732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165696" y="2148840"/>
            <a:ext cx="1292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1人で試す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507328" y="2843784"/>
            <a:ext cx="19506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1工程・1か月・1人で検証する。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所要:1か月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経営の関与:報告を受ける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867" y="3328416"/>
            <a:ext cx="201168" cy="2011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06611" y="1874520"/>
            <a:ext cx="2499284" cy="3108960"/>
          </a:xfrm>
          <a:prstGeom prst="roundRect">
            <a:avLst>
              <a:gd name="adj" fmla="val 365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80931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28093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9939299" y="2148840"/>
            <a:ext cx="1292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営業全員へ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9280931" y="2843784"/>
            <a:ext cx="195064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手順書にして、他の営業へ広げる。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所要:3か月〜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経営の関与:評価に組み込む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5800" y="52120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51560" y="5212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失敗する会社は、この1と2を飛ばして、いきなり3から始めています。</a:t>
            </a:r>
            <a:endParaRPr lang="en-US" sz="1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1:営業の時間を、1週間だけ測る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「忙しい」ではなく、何に何分かかっているかを数字にします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75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営業全員に、1週間だけ作業時間を記録してもらう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細かい分類は不要。「何に、何分」だけ。日報の末尾に1行足すだけでも構いません。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236976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547872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70661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8328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「集める・書く・まとめる・つなぐ」の4分類で仕分ける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712464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第3部の4つの型を使います。この4つに当てはまる作業が、そのまま候補になります。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645152"/>
            <a:ext cx="10820095" cy="1188720"/>
          </a:xfrm>
          <a:prstGeom prst="roundRect">
            <a:avLst>
              <a:gd name="adj" fmla="val 6154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956048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5114788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79145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時間の多い順に並べ、上位3つを書き出す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5120640"/>
            <a:ext cx="94484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この3つが、次のステップで判断する対象です。全部やろうとしないこと。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486400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経営者がやることは1つ ── 「1週間、時間を記録してほしい」と指示を出すことです。</a:t>
            </a:r>
            <a:endParaRPr lang="en-US" sz="14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2:最初の1工程を決める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効果の大きさと、着手のしやすさで並べます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65960"/>
            <a:ext cx="2221992" cy="1673352"/>
          </a:xfrm>
          <a:prstGeom prst="roundRect">
            <a:avLst>
              <a:gd name="adj" fmla="val 437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23774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最初に取る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86207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大 × 着手 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1965960"/>
            <a:ext cx="2221992" cy="1673352"/>
          </a:xfrm>
          <a:prstGeom prst="roundRect">
            <a:avLst>
              <a:gd name="adj" fmla="val 4372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23774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次に取る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86200" y="286207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大 × 着手 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749040"/>
            <a:ext cx="2221992" cy="1673352"/>
          </a:xfrm>
          <a:prstGeom prst="roundRect">
            <a:avLst>
              <a:gd name="adj" fmla="val 4372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1605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余力で取る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46451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小 × 着手 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3749040"/>
            <a:ext cx="2221992" cy="1673352"/>
          </a:xfrm>
          <a:prstGeom prst="roundRect">
            <a:avLst>
              <a:gd name="adj" fmla="val 4372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41605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やらない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86200" y="464515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小 × 着手 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大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1480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小 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5495544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着手しやすい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5495544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着手しにくい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1965960"/>
            <a:ext cx="4965192" cy="3886200"/>
          </a:xfrm>
          <a:prstGeom prst="roundRect">
            <a:avLst>
              <a:gd name="adj" fmla="val 2353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228600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1619" y="2439619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0" y="29718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最初の1つは、必ず社長が決める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858000" y="3566160"/>
            <a:ext cx="4343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営業に選ばせると、いちばん無難な作業が選ばれます。効果が小さいため成果が見えず、そのまま立ち消えになります。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「提案書のたたき台から始める」「日報の集計から始める」── この一言を経営者が言えるかどうかで、結果が変わります。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3:1工程・1か月・1人で試す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全営業に配って始めた会社は、ほぼ例外なく失敗しています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399434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03704"/>
            <a:ext cx="2850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対象工程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569464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つだけ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STEP2で選んだ工程に限定。増やしたくなっても、この期間は広げない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6130" y="1965960"/>
            <a:ext cx="3399434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0450" y="2203704"/>
            <a:ext cx="2850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検証期間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0450" y="2569464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か月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70450" y="3337560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短すぎると慣れず、長すぎると熱が冷める。1か月がちょうどよい長さ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6461" y="1965960"/>
            <a:ext cx="3399434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0781" y="2203704"/>
            <a:ext cx="2850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0781" y="2569464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名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80781" y="3337560"/>
            <a:ext cx="28507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いちばん困っている営業を選ぶ。前向きな人ではなく、負荷が重い人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" y="48234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4977079"/>
            <a:ext cx="241402" cy="2414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37360" y="4617720"/>
            <a:ext cx="9402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その1名の訪問目標を、検証期間だけ下げてください。時間を渡さない限り、誰も新しいことは始められません。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※開始前と終了後の作業時間・訪問件数を必ず記録してください。数字がないと次の判断ができません。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4:型にして、営業全員へ広げる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1人の工夫で終わらせず、会社の仕組みに変えます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0820095" cy="1024128"/>
          </a:xfrm>
          <a:prstGeom prst="roundRect">
            <a:avLst>
              <a:gd name="adj" fmla="val 7143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60" y="2078980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83794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指示の出し方を1枚の紙にまとめる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167128"/>
            <a:ext cx="9448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「何をどう頼むと、何が出てくるか」だけで十分。担当者本人に書いてもらいます。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880360"/>
            <a:ext cx="10820095" cy="1024128"/>
          </a:xfrm>
          <a:prstGeom prst="roundRect">
            <a:avLst>
              <a:gd name="adj" fmla="val 7143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108960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60" y="3267700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02666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同じ工程を持つ営業に渡す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83080" y="3355848"/>
            <a:ext cx="9448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説明会は不要。手順書を渡して、隣で1回一緒にやれば伝わります。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4069080"/>
            <a:ext cx="10820095" cy="1024128"/>
          </a:xfrm>
          <a:prstGeom prst="roundRect">
            <a:avLst>
              <a:gd name="adj" fmla="val 7143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60" y="4456420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21538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次の工程に着手する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4544568"/>
            <a:ext cx="9448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STEP2で選んだ2番目の工程へ。1つずつ、確実に潰していきます。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257800"/>
            <a:ext cx="10820095" cy="1024128"/>
          </a:xfrm>
          <a:prstGeom prst="roundRect">
            <a:avLst>
              <a:gd name="adj" fmla="val 7143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0120" y="5486400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60" y="5645140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540410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成果を評価に反映する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783080" y="5733288"/>
            <a:ext cx="9448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時間を生んだ人が報われる形にしないと、2周目は起きません。ここは経営の仕事です。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経営者の役割は「やっていい」と決めること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営業は、数字を追いながら新しいことを始められません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営業の頭の中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「今月の数字を追うので手一杯だ」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「顧客情報を入れて、問題にならないか」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「試している間に、訪問件数が落ちる」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「そもそも、会社として認めているのか」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3611880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874520"/>
            <a:ext cx="493776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85432" y="2103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社長の一言で外れる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85432" y="26974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「提案書の作成で、</a:t>
            </a:r>
            <a:endParaRPr lang="en-US" sz="2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1か月試してほしい。</a:t>
            </a:r>
            <a:endParaRPr lang="en-US" sz="2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その分、今月の訪問目標は</a:t>
            </a:r>
            <a:endParaRPr lang="en-US" sz="2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下げていい。」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85432" y="46634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投資判断でも、ツール選定でもありません。決めるのは、やっていい範囲と、渡す時間だけです。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営業が動かない3つの理由と、その外し方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精神論では動きません。構造を外してください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34415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数字を追うので手一杯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【外し方】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検証期間だけ訪問目標を下げる。「その分の数字は問わない」まで言い切る。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613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34415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問題になったら困る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【外し方】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入力してよい情報の線引きを先に示す。「このルールの範囲なら責任は問わない」と宣言する。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06461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34415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やっても評価されない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【外し方】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生まれた時間と訪問件数の増加を成果として評価する。朝礼で名前を出すだけでも効きます。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85800" y="52120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212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3つとも、社長にしか外せません。だから「現場に丸投げ」は必ず失敗するのです。</a:t>
            </a:r>
            <a:endParaRPr lang="en-US" sz="14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リスク管理:営業ならではの3つの落とし穴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顧客情報を扱う以上、ここは避けて通れません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F7ECDD"/>
          </a:solidFill>
          <a:ln w="12700">
            <a:solidFill>
              <a:srgbClr val="EBD9C2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34415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顧客情報の取り扱い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顧客名簿・取引条件・見積単価をそのまま入力してしまう。何を入れてよいかの線引きが必要です。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613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F7ECDD"/>
          </a:solidFill>
          <a:ln w="12700">
            <a:solidFill>
              <a:srgbClr val="EBD9C2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34415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事実と異なる内容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納期や仕様をもっともらしく書いてしまうことがあります。そのまま顧客に送ると信用問題になります。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461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F7ECDD"/>
          </a:solidFill>
          <a:ln w="12700">
            <a:solidFill>
              <a:srgbClr val="EBD9C2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34415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確認せずに社外へ送る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作られた文面をそのままメール送信してしまう事故。社外に出る前の確認者を決める必要があります。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2120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212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いずれも、ルールを1枚決めておけば大半は防げます。難しい規程は要りません。</a:t>
            </a:r>
            <a:endParaRPr lang="en-US" sz="14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最低限、決めておく社内ルール3項目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A4で1枚。これ以上は要りません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762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192024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入力してよい情報の線引き</a:t>
            </a:r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顧客名・取引単価・未公開の商談情報は入力しない。判断に迷うものは上長に確認する。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3054096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331012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41071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7048" y="3054096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使ってよいサービスの限定</a:t>
            </a:r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会社が認めたものだけを使用する。無料版・個人アカウントでの業務利用は禁止する。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4187952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1832" y="44439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4456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27048" y="4187952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社外に出す前の確認者を決める</a:t>
            </a:r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AIが作った文面を顧客に送る場合は、必ず担当者以外が1回確認する。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" y="534924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78408" y="546354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7" y="5617159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5349240"/>
            <a:ext cx="9402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この3行を朝礼で共有するだけでも、無法状態からは抜け出せます。</a:t>
            </a:r>
            <a:endParaRPr lang="en-US" sz="14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ルールなしで使われるのと、</a:t>
            </a:r>
            <a:endParaRPr lang="en-US" sz="35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ルールを決めて使わせるの。</a:t>
            </a:r>
            <a:endParaRPr lang="en-US" sz="35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どちらが危険ですか?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1005840" y="489204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禁止しても、使用はなくなりません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使える公的支援もあります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自社だけで抱え込む必要はありません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34415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IT導入補助金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対象ツールの導入費用の一部が補助されます。対象・要件は年度ごとに変わるため、公募要領の確認を。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6130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34415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商工会議所の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経営相談窓口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無料で相談できます。何から手をつけるかの整理だけでも、外部の目を入れる価値があります。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461" y="1874520"/>
            <a:ext cx="3399434" cy="3108960"/>
          </a:xfrm>
          <a:prstGeom prst="roundRect">
            <a:avLst>
              <a:gd name="adj" fmla="val 2941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8541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34415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専門家派遣制度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703320"/>
            <a:ext cx="277764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専門家を一定回数まで低額または無料で招けます。時間の棚卸しの段階から入ってもらうのが有効です。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212080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2120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補助金ありきで進めないこと。まず1工程で試し、効果が見えてから制度を使うのが順番です。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※制度内容・要件は年度により変更されます。登壇時点の最新の公募要領をご確認ください。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65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625535" y="173736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 6 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2542032"/>
            <a:ext cx="75282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持ち帰っていただくこと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279392"/>
            <a:ext cx="7528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最後に、明日から動かすための3つのアクションを整理します。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今日の要点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この3つだけ覚えて帰ってください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99434" cy="3566160"/>
          </a:xfrm>
          <a:prstGeom prst="roundRect">
            <a:avLst>
              <a:gd name="adj" fmla="val 269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8541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669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営業が売っている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時間は4割以下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6696" y="3703320"/>
            <a:ext cx="277764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残りは資料作成・報告・情報探しです。営業を増やせない以上、この時間を取り戻すしかありません。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6130" y="1874520"/>
            <a:ext cx="3399434" cy="3566160"/>
          </a:xfrm>
          <a:prstGeom prst="roundRect">
            <a:avLst>
              <a:gd name="adj" fmla="val 269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7026" y="218541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7026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7026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作業をやり切るAIが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7026" y="3703320"/>
            <a:ext cx="277764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答えを返すだけでなく、資料を読み、作り、保存するところまで進みます。黒い画面は不要、指示は日本語です。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6461" y="1874520"/>
            <a:ext cx="3399434" cy="3566160"/>
          </a:xfrm>
          <a:prstGeom prst="roundRect">
            <a:avLst>
              <a:gd name="adj" fmla="val 2690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7357" y="218541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7357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7357" y="297180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決めるのは、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経営者です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7357" y="3703320"/>
            <a:ext cx="277764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どの工程を、誰が、いつまでに試すのか。そして、その人の訪問目標を下げること。ここが結果を分けます。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94096" y="1783080"/>
            <a:ext cx="603504" cy="60350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112" y="1911096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06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1年後も、御社の営業は</a:t>
            </a:r>
            <a:endParaRPr lang="en-US" sz="36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同じ時間を事務に使っていていいですか?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489204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── 冒頭の問いを、もう一度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明日からの3アクション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この順番で、そのまま実行できます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991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9971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1920240"/>
            <a:ext cx="9722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今週:営業に「1週間、作業時間を記録してほしい」と伝える</a:t>
            </a:r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細かい分類は不要。何に何分かかったかだけ。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3118104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" y="339699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4975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7048" y="3118104"/>
            <a:ext cx="9722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今月:記録を見て、最初の1工程を社長が決める</a:t>
            </a:r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効果が大きく、着手しやすいものから。営業に選ばせない。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4315968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1832" y="459486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69544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27048" y="4315968"/>
            <a:ext cx="9722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来月:1工程・1か月・1人で試す。その人の訪問目標を下げる</a:t>
            </a:r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開始前と終了後の時間・訪問件数を必ず記録する。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" y="544068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51560" y="54406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3か月後には、自社に合うかどうかの答えが、数字で出ています。</a:t>
            </a:r>
            <a:endParaRPr lang="en-US" sz="14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69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991295" y="214884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965960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最後にひとつだけ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60120" y="2450592"/>
            <a:ext cx="8076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最初の1工程を、</a:t>
            </a:r>
            <a:endParaRPr lang="en-US" sz="4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今ここで決めてください。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120" y="4315968"/>
            <a:ext cx="807689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会場を出てからでは、日常業務に戻って忘れてしまいます。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リスト作成でも、提案書でも、日報の集計でも構いません。ひとつだけ選んでください。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1575" y="6355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42062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ご相談窓口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自社だけで抱え込まず、まずは相談から始めてください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399434" cy="3246120"/>
          </a:xfrm>
          <a:prstGeom prst="roundRect">
            <a:avLst>
              <a:gd name="adj" fmla="val 281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436" y="2298436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6696" y="292608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主催者の経営相談窓口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96" y="3657600"/>
            <a:ext cx="277764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〇〇商工会議所 経営支援課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TEL:000-0000-0000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受付:平日 9:00〜17:00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6130" y="1828800"/>
            <a:ext cx="3399434" cy="3246120"/>
          </a:xfrm>
          <a:prstGeom prst="roundRect">
            <a:avLst>
              <a:gd name="adj" fmla="val 281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7026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66" y="2298436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7026" y="292608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本日の講師への相談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7026" y="3657600"/>
            <a:ext cx="277764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所属・部署名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メール:info@example.jp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※本日の資料もこちらからお送りします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461" y="1828800"/>
            <a:ext cx="3399434" cy="3246120"/>
          </a:xfrm>
          <a:prstGeom prst="roundRect">
            <a:avLst>
              <a:gd name="adj" fmla="val 2817"/>
            </a:avLst>
          </a:prstGeom>
          <a:solidFill>
            <a:srgbClr val="EFF3FC"/>
          </a:solidFill>
          <a:ln w="12700">
            <a:solidFill>
              <a:srgbClr val="D6E0F3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7357" y="2139696"/>
            <a:ext cx="566928" cy="5669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97" y="2298436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926080"/>
            <a:ext cx="277764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配布資料について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7357" y="3657600"/>
            <a:ext cx="277764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営業時間の記録シート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社内ルールのひな形(A4・1枚)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本日のスライド(抜粋版)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51560" y="525780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本日はありがとうございました。まずは「1週間の時間記録」から始めてみてください。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85800" y="6291072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※窓口・連絡先は、開催前に主催者および登壇者の情報へ差し替えてください。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売る時間を、取り戻す。</dc:title>
  <dc:subject>PptxGenJS Presentation</dc:subject>
  <dc:creator>セミナー資料</dc:creator>
  <cp:lastModifiedBy>セミナー資料</cp:lastModifiedBy>
  <cp:revision>1</cp:revision>
  <dcterms:created xsi:type="dcterms:W3CDTF">2026-08-07T02:30:54Z</dcterms:created>
  <dcterms:modified xsi:type="dcterms:W3CDTF">2026-08-07T02:30:54Z</dcterms:modified>
</cp:coreProperties>
</file>